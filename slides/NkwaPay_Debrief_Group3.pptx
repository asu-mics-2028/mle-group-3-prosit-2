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4400" b="1">
                <a:solidFill>
                  <a:srgbClr val="1F2937"/>
                </a:solidFill>
              </a:defRPr>
            </a:pPr>
            <a:r>
              <a:t>NkwaPay credit scoring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1089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 b="0">
                <a:solidFill>
                  <a:srgbClr val="6B7280"/>
                </a:solidFill>
              </a:defRPr>
            </a:pPr>
            <a:r>
              <a:t>A Kenyan model, a Ghanaian launch, and what stands between them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6B7280"/>
                </a:solidFill>
              </a:defRPr>
            </a:pPr>
            <a:r>
              <a:t>ICS553 Prosit 2 · Group 3 · 3 November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1F2937"/>
                </a:solidFill>
              </a:defRPr>
            </a:pPr>
            <a:r>
              <a:t>The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93775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1F2937"/>
                </a:solidFill>
              </a:defRPr>
            </a:pPr>
            <a:r>
              <a:t>• NkwaPay wants to score Ghanaian loan applications</a:t>
            </a:r>
          </a:p>
          <a:p>
            <a:pPr>
              <a:spcAft>
                <a:spcPts val="600"/>
              </a:spcAft>
              <a:defRPr sz="1800" b="0">
                <a:solidFill>
                  <a:srgbClr val="1F2937"/>
                </a:solidFill>
              </a:defRPr>
            </a:pPr>
            <a:r>
              <a:t>• We have 66,520 labelled Kenyan loans (1.63% default) and 2,084 unlabelled Ghanaian ones</a:t>
            </a:r>
          </a:p>
          <a:p>
            <a:pPr>
              <a:spcAft>
                <a:spcPts val="600"/>
              </a:spcAft>
              <a:defRPr sz="1800" b="0">
                <a:solidFill>
                  <a:srgbClr val="1F2937"/>
                </a:solidFill>
              </a:defRPr>
            </a:pPr>
            <a:r>
              <a:t>• Two tasks: will this loan default? how much should we lend?</a:t>
            </a:r>
          </a:p>
          <a:p>
            <a:pPr>
              <a:spcAft>
                <a:spcPts val="600"/>
              </a:spcAft>
              <a:defRPr sz="1800" b="0">
                <a:solidFill>
                  <a:srgbClr val="1F2937"/>
                </a:solidFill>
              </a:defRPr>
            </a:pPr>
            <a:r>
              <a:t>• Decision point: approval, before disbursement; nothing known after it may be a feature</a:t>
            </a:r>
          </a:p>
          <a:p>
            <a:pPr>
              <a:spcAft>
                <a:spcPts val="600"/>
              </a:spcAft>
              <a:defRPr sz="1800" b="0">
                <a:solidFill>
                  <a:srgbClr val="1F2937"/>
                </a:solidFill>
              </a:defRPr>
            </a:pPr>
            <a:r>
              <a:t>• Cost matrix (GHS 500 loan): a good loan earns 25, a default loses 380 → decline if P(default) &gt; 0.062</a:t>
            </a:r>
          </a:p>
        </p:txBody>
      </p:sp>
      <p:pic>
        <p:nvPicPr>
          <p:cNvPr id="4" name="Picture 3" descr="01_loan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0895" y="1463040"/>
            <a:ext cx="5852160" cy="138323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9893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C2410C"/>
                </a:solidFill>
              </a:defRPr>
            </a:pPr>
            <a:r>
              <a:t>One default wipes out the profit of 15 good loans.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1F2937"/>
                </a:solidFill>
              </a:defRPr>
            </a:pPr>
            <a:r>
              <a:t>The data gives the answer away, if you let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1F2937"/>
                </a:solidFill>
              </a:defRPr>
            </a:pPr>
            <a:r>
              <a:t>• Total_Amount_to_Repay looks like a contract term</a:t>
            </a:r>
          </a:p>
          <a:p>
            <a:pPr>
              <a:spcAft>
                <a:spcPts val="600"/>
              </a:spcAft>
              <a:defRPr sz="1800" b="0">
                <a:solidFill>
                  <a:srgbClr val="1F2937"/>
                </a:solidFill>
              </a:defRPr>
            </a:pPr>
            <a:r>
              <a:t>• On identical contracts, repaid loans owe +0.7%; defaulted loans owe +41% (penalties added later)</a:t>
            </a:r>
          </a:p>
          <a:p>
            <a:pPr>
              <a:spcAft>
                <a:spcPts val="600"/>
              </a:spcAft>
              <a:defRPr sz="1800" b="0">
                <a:solidFill>
                  <a:srgbClr val="1F2937"/>
                </a:solidFill>
              </a:defRPr>
            </a:pPr>
            <a:r>
              <a:t>• Alone it predicts default with AUC 0.98</a:t>
            </a:r>
          </a:p>
          <a:p>
            <a:pPr>
              <a:spcAft>
                <a:spcPts val="600"/>
              </a:spcAft>
              <a:defRPr sz="1800" b="0">
                <a:solidFill>
                  <a:srgbClr val="1F2937"/>
                </a:solidFill>
              </a:defRPr>
            </a:pPr>
            <a:r>
              <a:t>• A naive pipeline scores PR-AUC 0.825; our honest estimate is 0.145</a:t>
            </a:r>
          </a:p>
          <a:p>
            <a:pPr>
              <a:spcAft>
                <a:spcPts val="600"/>
              </a:spcAft>
              <a:defRPr sz="1800" b="0">
                <a:solidFill>
                  <a:srgbClr val="1F2937"/>
                </a:solidFill>
              </a:defRPr>
            </a:pPr>
            <a:r>
              <a:t>• Also: co-funded loans appear twice; Zindi split by row, so 920 loans straddle Train and Test</a:t>
            </a:r>
          </a:p>
        </p:txBody>
      </p:sp>
      <p:pic>
        <p:nvPicPr>
          <p:cNvPr id="4" name="Picture 3" descr="01_repay_ratio_leak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8015" y="1463040"/>
            <a:ext cx="6035040" cy="25864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9893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C2410C"/>
                </a:solidFill>
              </a:defRPr>
            </a:pPr>
            <a:r>
              <a:t>We dropped it. A model using it would fail on every real applicant.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1F2937"/>
                </a:solidFill>
              </a:defRPr>
            </a:pPr>
            <a:r>
              <a:t>Validation design picks the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206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1F2937"/>
                </a:solidFill>
              </a:defRPr>
            </a:pPr>
            <a:r>
              <a:t>• Stratified CV: LightGBM 0.233 vs LogReg 0.184 PR-AUC</a:t>
            </a:r>
          </a:p>
          <a:p>
            <a:pPr>
              <a:spcAft>
                <a:spcPts val="600"/>
              </a:spcAft>
              <a:defRPr sz="1800" b="0">
                <a:solidFill>
                  <a:srgbClr val="1F2937"/>
                </a:solidFill>
              </a:defRPr>
            </a:pPr>
            <a:r>
              <a:t>• Temporal CV: LogReg 0.129 vs LightGBM 0.106</a:t>
            </a:r>
          </a:p>
          <a:p>
            <a:pPr>
              <a:spcAft>
                <a:spcPts val="600"/>
              </a:spcAft>
              <a:defRPr sz="1800" b="0">
                <a:solidFill>
                  <a:srgbClr val="1F2937"/>
                </a:solidFill>
              </a:defRPr>
            </a:pPr>
            <a:r>
              <a:t>• Grouping by customer barely matters (history features are leakage-safe)</a:t>
            </a:r>
          </a:p>
          <a:p>
            <a:pPr>
              <a:spcAft>
                <a:spcPts val="600"/>
              </a:spcAft>
              <a:defRPr sz="1800" b="0">
                <a:solidFill>
                  <a:srgbClr val="1F2937"/>
                </a:solidFill>
              </a:defRPr>
            </a:pPr>
            <a:r>
              <a:t>• Time is what matters: random CV overstates 1.7–2.7×</a:t>
            </a:r>
          </a:p>
        </p:txBody>
      </p:sp>
      <p:pic>
        <p:nvPicPr>
          <p:cNvPr id="4" name="Picture 3" descr="04_schem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9375" y="1463040"/>
            <a:ext cx="6583680" cy="20349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9893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C2410C"/>
                </a:solidFill>
              </a:defRPr>
            </a:pPr>
            <a:r>
              <a:t>Random CV doesn't just inflate the score, it picks the wrong model.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1F2937"/>
                </a:solidFill>
              </a:defRPr>
            </a:pPr>
            <a:r>
              <a:t>Kenya changed in December 2022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206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1F2937"/>
                </a:solidFill>
              </a:defRPr>
            </a:pPr>
            <a:r>
              <a:t>• Type_1, 93% of all loans and ~1% default, stops after 1 Dec 2022</a:t>
            </a:r>
          </a:p>
          <a:p>
            <a:pPr>
              <a:spcAft>
                <a:spcPts val="600"/>
              </a:spcAft>
              <a:defRPr sz="1800" b="0">
                <a:solidFill>
                  <a:srgbClr val="1F2937"/>
                </a:solidFill>
              </a:defRPr>
            </a:pPr>
            <a:r>
              <a:t>• Afterwards: 9–13% default, mostly new customers</a:t>
            </a:r>
          </a:p>
          <a:p>
            <a:pPr>
              <a:spcAft>
                <a:spcPts val="600"/>
              </a:spcAft>
              <a:defRPr sz="1800" b="0">
                <a:solidFill>
                  <a:srgbClr val="1F2937"/>
                </a:solidFill>
              </a:defRPr>
            </a:pPr>
            <a:r>
              <a:t>• Both models fall from ROC ~0.8 to ~0.6</a:t>
            </a:r>
          </a:p>
          <a:p>
            <a:pPr>
              <a:spcAft>
                <a:spcPts val="600"/>
              </a:spcAft>
              <a:defRPr sz="1800" b="0">
                <a:solidFill>
                  <a:srgbClr val="1F2937"/>
                </a:solidFill>
              </a:defRPr>
            </a:pPr>
            <a:r>
              <a:t>• Repeat customers are scored badly too: the market changed, not just the customers</a:t>
            </a:r>
          </a:p>
        </p:txBody>
      </p:sp>
      <p:pic>
        <p:nvPicPr>
          <p:cNvPr id="4" name="Picture 3" descr="02_class_bal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9375" y="1463040"/>
            <a:ext cx="6583680" cy="210677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9893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C2410C"/>
                </a:solidFill>
              </a:defRPr>
            </a:pPr>
            <a:r>
              <a:t>This is our best Kenyan proxy for a new market, and the model barely copes.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1F2937"/>
                </a:solidFill>
              </a:defRPr>
            </a:pPr>
            <a:r>
              <a:t>Model choice and the money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389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1F2937"/>
                </a:solidFill>
              </a:defRPr>
            </a:pPr>
            <a:r>
              <a:t>• 12 candidates on temporal folds; class weights never helped and broke calibration</a:t>
            </a:r>
          </a:p>
          <a:p>
            <a:pPr>
              <a:spcAft>
                <a:spcPts val="600"/>
              </a:spcAft>
              <a:defRPr sz="1800" b="0">
                <a:solidFill>
                  <a:srgbClr val="1F2937"/>
                </a:solidFill>
              </a:defRPr>
            </a:pPr>
            <a:r>
              <a:t>• LogReg: best PR-AUC (0.143), best after Dec 2022; shallow LightGBM: best ROC</a:t>
            </a:r>
          </a:p>
          <a:p>
            <a:pPr>
              <a:spcAft>
                <a:spcPts val="600"/>
              </a:spcAft>
              <a:defRPr sz="1800" b="0">
                <a:solidFill>
                  <a:srgbClr val="1F2937"/>
                </a:solidFill>
              </a:defRPr>
            </a:pPr>
            <a:r>
              <a:t>• Bootstrap: LogReg ≈ LightGBM on PR-AUC overall; LogReg significantly better after Dec 2022</a:t>
            </a:r>
          </a:p>
          <a:p>
            <a:pPr>
              <a:spcAft>
                <a:spcPts val="600"/>
              </a:spcAft>
              <a:defRPr sz="1800" b="0">
                <a:solidFill>
                  <a:srgbClr val="1F2937"/>
                </a:solidFill>
              </a:defRPr>
            </a:pPr>
            <a:r>
              <a:t>• Per 1,000 applications after Dec 2022: approve-all −16,600 GHS; LogReg at 0.062 −3,500</a:t>
            </a:r>
          </a:p>
        </p:txBody>
      </p:sp>
      <p:pic>
        <p:nvPicPr>
          <p:cNvPr id="4" name="Picture 3" descr="05_threshold_va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2255" y="1463040"/>
            <a:ext cx="6400800" cy="1600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9893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C2410C"/>
                </a:solidFill>
              </a:defRPr>
            </a:pPr>
            <a:r>
              <a:t>The model earns its keep exactly where it is least accurate.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1F2937"/>
                </a:solidFill>
              </a:defRPr>
            </a:pPr>
            <a:r>
              <a:t>How much to lend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389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1F2937"/>
                </a:solidFill>
              </a:defRPr>
            </a:pPr>
            <a:r>
              <a:t>• Ridge on log amount, trained on repaid loans only; median error ≈ 1,930 KES (GHS 150)</a:t>
            </a:r>
          </a:p>
          <a:p>
            <a:pPr>
              <a:spcAft>
                <a:spcPts val="600"/>
              </a:spcAft>
              <a:defRPr sz="1800" b="0">
                <a:solidFill>
                  <a:srgbClr val="1F2937"/>
                </a:solidFill>
              </a:defRPr>
            </a:pPr>
            <a:r>
              <a:t>• Raw-scale terms extrapolated a 3-year loan to e^57 KES; log scale and a cap fixed it</a:t>
            </a:r>
          </a:p>
          <a:p>
            <a:pPr>
              <a:spcAft>
                <a:spcPts val="600"/>
              </a:spcAft>
              <a:defRPr sz="1800" b="0">
                <a:solidFill>
                  <a:srgbClr val="1F2937"/>
                </a:solidFill>
              </a:defRPr>
            </a:pPr>
            <a:r>
              <a:t>• 'Lend what they borrowed before' is within 25% more often than any model (38%)</a:t>
            </a:r>
          </a:p>
          <a:p>
            <a:pPr>
              <a:spcAft>
                <a:spcPts val="600"/>
              </a:spcAft>
              <a:defRPr sz="1800" b="0">
                <a:solidFill>
                  <a:srgbClr val="1F2937"/>
                </a:solidFill>
              </a:defRPr>
            </a:pPr>
            <a:r>
              <a:t>• First-time borrowers over-predicted by ~40% → first-loan cap</a:t>
            </a:r>
          </a:p>
        </p:txBody>
      </p:sp>
      <p:pic>
        <p:nvPicPr>
          <p:cNvPr id="4" name="Picture 3" descr="06_residu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2255" y="1463040"/>
            <a:ext cx="6400800" cy="17373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1F2937"/>
                </a:solidFill>
              </a:defRPr>
            </a:pPr>
            <a:r>
              <a:t>Telling a borrower why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937759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1F2937"/>
                </a:solidFill>
              </a:defRPr>
            </a:pPr>
            <a:r>
              <a:t>• Logistic log-odds split exactly into reason families; top 3 become plain-language reasons</a:t>
            </a:r>
          </a:p>
          <a:p>
            <a:pPr>
              <a:spcAft>
                <a:spcPts val="600"/>
              </a:spcAft>
              <a:defRPr sz="1800" b="0">
                <a:solidFill>
                  <a:srgbClr val="1F2937"/>
                </a:solidFill>
              </a:defRPr>
            </a:pPr>
            <a:r>
              <a:t>• Caught: term and amount coefficients cancel, so a 'loan too big' reason pointed the wrong way</a:t>
            </a:r>
          </a:p>
          <a:p>
            <a:pPr>
              <a:spcAft>
                <a:spcPts val="600"/>
              </a:spcAft>
              <a:defRPr sz="1800" b="0">
                <a:solidFill>
                  <a:srgbClr val="1F2937"/>
                </a:solidFill>
              </a:defRPr>
            </a:pPr>
            <a:r>
              <a:t>• Caught: Ghana applicants on unseen products would be told their product 'had problems'; now: 'new to us, no record yet'</a:t>
            </a:r>
          </a:p>
          <a:p>
            <a:pPr>
              <a:spcAft>
                <a:spcPts val="600"/>
              </a:spcAft>
              <a:defRPr sz="1800" b="0">
                <a:solidFill>
                  <a:srgbClr val="1F2937"/>
                </a:solidFill>
              </a:defRPr>
            </a:pPr>
            <a:r>
              <a:t>• Calendar features moved scores without predicting anything → removed</a:t>
            </a:r>
          </a:p>
        </p:txBody>
      </p:sp>
      <p:pic>
        <p:nvPicPr>
          <p:cNvPr id="4" name="Picture 3" descr="09_family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0895" y="1463040"/>
            <a:ext cx="5852160" cy="23408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1F2937"/>
                </a:solidFill>
              </a:defRPr>
            </a:pPr>
            <a:r>
              <a:t>Ghana: out of the model's reach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389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1F2937"/>
                </a:solidFill>
              </a:defRPr>
            </a:pPr>
            <a:r>
              <a:t>• 87% of loans on unseen products, 96% on unseen lenders, 66% co-funded</a:t>
            </a:r>
          </a:p>
          <a:p>
            <a:pPr>
              <a:spcAft>
                <a:spcPts val="600"/>
              </a:spcAft>
              <a:defRPr sz="1800" b="0">
                <a:solidFill>
                  <a:srgbClr val="1F2937"/>
                </a:solidFill>
              </a:defRPr>
            </a:pPr>
            <a:r>
              <a:t>• Domain classifier: AUC 1.000 (0.999 without product, lender, co-funding)</a:t>
            </a:r>
          </a:p>
          <a:p>
            <a:pPr>
              <a:spcAft>
                <a:spcPts val="600"/>
              </a:spcAft>
              <a:defRPr sz="1800" b="0">
                <a:solidFill>
                  <a:srgbClr val="1F2937"/>
                </a:solidFill>
              </a:defRPr>
            </a:pPr>
            <a:r>
              <a:t>• Importance weighting: effective sample 2.3% of Kenya; scores change, no way to check</a:t>
            </a:r>
          </a:p>
          <a:p>
            <a:pPr>
              <a:spcAft>
                <a:spcPts val="600"/>
              </a:spcAft>
              <a:defRPr sz="1800" b="0">
                <a:solidFill>
                  <a:srgbClr val="1F2937"/>
                </a:solidFill>
              </a:defRPr>
            </a:pPr>
            <a:r>
              <a:t>• Model would decline 22% (Kenya 6.7%): almost all Type_2/Type_8, 8.5% of Type_3</a:t>
            </a:r>
          </a:p>
        </p:txBody>
      </p:sp>
      <p:pic>
        <p:nvPicPr>
          <p:cNvPr id="4" name="Picture 3" descr="10_dis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2255" y="1463040"/>
            <a:ext cx="6400800" cy="13601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9893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C2410C"/>
                </a:solidFill>
              </a:defRPr>
            </a:pPr>
            <a:r>
              <a:t>No automated Ghana decisions until a capped pilot produces Ghanaian outcomes.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1F2937"/>
                </a:solidFill>
              </a:defRPr>
            </a:pPr>
            <a:r>
              <a:t>Fairness and the law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1F2937"/>
                </a:solidFill>
              </a:defRPr>
            </a:pPr>
            <a:r>
              <a:t>• No protected attributes in the data, so we tested proxies</a:t>
            </a:r>
          </a:p>
          <a:p>
            <a:pPr>
              <a:spcAft>
                <a:spcPts val="600"/>
              </a:spcAft>
              <a:defRPr sz="1800" b="0">
                <a:solidFill>
                  <a:srgbClr val="1F2937"/>
                </a:solidFill>
              </a:defRPr>
            </a:pPr>
            <a:r>
              <a:t>• Thin-file applicants: declined 32%, including 30% of those who would repay</a:t>
            </a:r>
          </a:p>
          <a:p>
            <a:pPr>
              <a:spcAft>
                <a:spcPts val="600"/>
              </a:spcAft>
              <a:defRPr sz="1800" b="0">
                <a:solidFill>
                  <a:srgbClr val="1F2937"/>
                </a:solidFill>
              </a:defRPr>
            </a:pPr>
            <a:r>
              <a:t>• Dropping history features changes nothing (0.145 → 0.144): the proxy leaks back</a:t>
            </a:r>
          </a:p>
          <a:p>
            <a:pPr>
              <a:spcAft>
                <a:spcPts val="600"/>
              </a:spcAft>
              <a:defRPr sz="1800" b="0">
                <a:solidFill>
                  <a:srgbClr val="1F2937"/>
                </a:solidFill>
              </a:defRPr>
            </a:pPr>
            <a:r>
              <a:t>• Findex Ghana: account gaps by gender, income, education, area; mobile-money borrowing reaches these groups</a:t>
            </a:r>
          </a:p>
          <a:p>
            <a:pPr>
              <a:spcAft>
                <a:spcPts val="600"/>
              </a:spcAft>
              <a:defRPr sz="1800" b="0">
                <a:solidFill>
                  <a:srgbClr val="1F2937"/>
                </a:solidFill>
              </a:defRPr>
            </a:pPr>
            <a:r>
              <a:t>• Act 843 s.41: notice + 21-day human review; BoG: 20-day complaints, bureau reporting (not met)</a:t>
            </a:r>
          </a:p>
        </p:txBody>
      </p:sp>
      <p:pic>
        <p:nvPicPr>
          <p:cNvPr id="4" name="Picture 3" descr="11_findex_ga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8015" y="1463040"/>
            <a:ext cx="6035040" cy="14484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9893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C2410C"/>
                </a:solidFill>
              </a:defRPr>
            </a:pPr>
            <a:r>
              <a:t>Mitigation is a policy: refer thin-file applicants to a capped starter loan, monitor parity.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1F2937"/>
                </a:solidFill>
              </a:defRPr>
            </a:pPr>
            <a:r>
              <a:t>Scoring service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1F2937"/>
                </a:solidFill>
              </a:defRPr>
            </a:pPr>
            <a:r>
              <a:t>• Scorer.score(application, history) → P(default), decision, 3 reasons, offered amount</a:t>
            </a:r>
          </a:p>
          <a:p>
            <a:pPr>
              <a:spcAft>
                <a:spcPts val="600"/>
              </a:spcAft>
              <a:defRPr sz="1800" b="0">
                <a:solidFill>
                  <a:srgbClr val="1F2937"/>
                </a:solidFill>
              </a:defRPr>
            </a:pPr>
            <a:r>
              <a:t>• Same feature code as training; tested to reproduce training features exactly</a:t>
            </a:r>
          </a:p>
          <a:p>
            <a:pPr>
              <a:spcAft>
                <a:spcPts val="600"/>
              </a:spcAft>
              <a:defRPr sz="1800" b="0">
                <a:solidFill>
                  <a:srgbClr val="1F2937"/>
                </a:solidFill>
              </a:defRPr>
            </a:pPr>
            <a:r>
              <a:t>• approve · decline · refer (thin-file, or any market other than Kenya)</a:t>
            </a:r>
          </a:p>
          <a:p>
            <a:pPr>
              <a:spcAft>
                <a:spcPts val="600"/>
              </a:spcAft>
              <a:defRPr sz="1800" b="0">
                <a:solidFill>
                  <a:srgbClr val="1F2937"/>
                </a:solidFill>
              </a:defRPr>
            </a:pPr>
            <a:r>
              <a:t>• ~20 ms per call (p95 32 ms); 115,000 loans/s in batch</a:t>
            </a:r>
          </a:p>
          <a:p>
            <a:pPr>
              <a:spcAft>
                <a:spcPts val="600"/>
              </a:spcAft>
              <a:defRPr sz="1800" b="0">
                <a:solidFill>
                  <a:srgbClr val="1F2937"/>
                </a:solidFill>
              </a:defRPr>
            </a:pPr>
            <a:r>
              <a:t>• Nine application fields + earlier loans; no personal or sensitive data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1F2937"/>
                </a:solidFill>
              </a:defRPr>
            </a:pPr>
            <a:r>
              <a:t>What we recommend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1F2937"/>
                </a:solidFill>
              </a:defRPr>
            </a:pPr>
            <a:r>
              <a:t>• Kenya: deploy logistic regression at the cost threshold, recalibrate monthly, monitor drift</a:t>
            </a:r>
          </a:p>
          <a:p>
            <a:pPr>
              <a:spcAft>
                <a:spcPts val="600"/>
              </a:spcAft>
              <a:defRPr sz="1800" b="0">
                <a:solidFill>
                  <a:srgbClr val="1F2937"/>
                </a:solidFill>
              </a:defRPr>
            </a:pPr>
            <a:r>
              <a:t>• Thin-file applicants: starter loans and human review, never automatic decline</a:t>
            </a:r>
          </a:p>
          <a:p>
            <a:pPr>
              <a:spcAft>
                <a:spcPts val="600"/>
              </a:spcAft>
              <a:defRPr sz="1800" b="0">
                <a:solidFill>
                  <a:srgbClr val="1F2937"/>
                </a:solidFill>
              </a:defRPr>
            </a:pPr>
            <a:r>
              <a:t>• Ghana: capped, monitored pilot with human review; collect outcomes, then recalibrate and validate</a:t>
            </a:r>
          </a:p>
          <a:p>
            <a:pPr>
              <a:spcAft>
                <a:spcPts val="600"/>
              </a:spcAft>
              <a:defRPr sz="1800" b="0">
                <a:solidFill>
                  <a:srgbClr val="1F2937"/>
                </a:solidFill>
              </a:defRPr>
            </a:pPr>
            <a:r>
              <a:t>• Before launch: credit-bureau integration (BoG §7.3, Act 726), consent capture, legal review of Act 726 and Act 1052</a:t>
            </a:r>
          </a:p>
          <a:p>
            <a:pPr>
              <a:spcAft>
                <a:spcPts val="600"/>
              </a:spcAft>
              <a:defRPr sz="1800" b="0">
                <a:solidFill>
                  <a:srgbClr val="1F2937"/>
                </a:solidFill>
              </a:defRPr>
            </a:pPr>
            <a:r>
              <a:t>• Replace our cost assumptions with NkwaPay's 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893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C2410C"/>
                </a:solidFill>
              </a:defRPr>
            </a:pPr>
            <a:r>
              <a:t>The next gain comes from Ghanaian data, not a cleverer Kenyan model.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